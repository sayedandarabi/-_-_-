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05770" y="2400300"/>
            <a:ext cx="25324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7F3E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آفلاین، قابل اتکا، قابل همگام‌سازی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3305770" y="2571750"/>
            <a:ext cx="25324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4A72C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معماری و وضعیت پیاده‌سازی MVP حسابداری افغانستان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438055" y="4607719"/>
            <a:ext cx="143232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7F3E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Engineering Review Deck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223742" y="4607719"/>
            <a:ext cx="428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7F3E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•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273623" y="4607719"/>
            <a:ext cx="77866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7F3E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October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28600"/>
            <a:ext cx="8686800" cy="27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4000"/>
              </a:lnSpc>
              <a:buNone/>
            </a:pPr>
            <a:r>
              <a:rPr lang="en-US" sz="1800" b="1" dirty="0">
                <a:solidFill>
                  <a:srgbClr val="0F766E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وضعیت فعلی: هسته محلی کامل، همگام‌سازی در سطح قرارداد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228600" y="541474"/>
            <a:ext cx="8686800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مقایسه قابلیت‌های پیاده‌سازی شده در MVP و اهداف نسخه نهایی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7175897" y="937952"/>
            <a:ext cx="1735931" cy="335756"/>
          </a:xfrm>
          <a:prstGeom prst="rect">
            <a:avLst/>
          </a:prstGeom>
          <a:solidFill>
            <a:srgbClr val="E2F0EF"/>
          </a:solidFill>
          <a:ln w="9144">
            <a:solidFill>
              <a:srgbClr val="D1CCC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75897" y="937952"/>
            <a:ext cx="1735931" cy="33575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بخش سیستم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3704034" y="937952"/>
            <a:ext cx="3471863" cy="335756"/>
          </a:xfrm>
          <a:prstGeom prst="rect">
            <a:avLst/>
          </a:prstGeom>
          <a:solidFill>
            <a:srgbClr val="E2F0EF"/>
          </a:solidFill>
          <a:ln w="9144">
            <a:solidFill>
              <a:srgbClr val="D1CC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704034" y="937952"/>
            <a:ext cx="3471863" cy="33575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وضعیت MVP (پیاده‌سازی شده)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232172" y="937952"/>
            <a:ext cx="3471863" cy="335756"/>
          </a:xfrm>
          <a:prstGeom prst="rect">
            <a:avLst/>
          </a:prstGeom>
          <a:solidFill>
            <a:srgbClr val="E2F0EF"/>
          </a:solidFill>
          <a:ln w="9144">
            <a:solidFill>
              <a:srgbClr val="D1CC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32172" y="937952"/>
            <a:ext cx="3471863" cy="33575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هدف نهایی (تولید)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7265194" y="1355861"/>
            <a:ext cx="1557338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7211F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ذخیره‌سازی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704034" y="1266565"/>
            <a:ext cx="3471863" cy="589359"/>
          </a:xfrm>
          <a:prstGeom prst="rect">
            <a:avLst/>
          </a:prstGeom>
          <a:solidFill>
            <a:srgbClr val="FBF3DF"/>
          </a:solidFill>
          <a:ln w="9144">
            <a:solidFill>
              <a:srgbClr val="D1CCC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65044" y="1352290"/>
            <a:ext cx="1021556" cy="189309"/>
          </a:xfrm>
          <a:prstGeom prst="rect">
            <a:avLst/>
          </a:prstGeom>
          <a:solidFill>
            <a:srgbClr val="D4A72C"/>
          </a:solidFill>
          <a:ln/>
        </p:spPr>
      </p:sp>
      <p:sp>
        <p:nvSpPr>
          <p:cNvPr id="14" name="Text 11"/>
          <p:cNvSpPr/>
          <p:nvPr/>
        </p:nvSpPr>
        <p:spPr>
          <a:xfrm>
            <a:off x="6065044" y="1352290"/>
            <a:ext cx="1021556" cy="189309"/>
          </a:xfrm>
          <a:prstGeom prst="rect">
            <a:avLst/>
          </a:prstGeom>
          <a:noFill/>
          <a:ln/>
        </p:spPr>
        <p:txBody>
          <a:bodyPr wrap="none" lIns="85090" tIns="25527" rIns="85090" bIns="25527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محلی (AsyncStorage)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4046934" y="1584461"/>
            <a:ext cx="3039666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دیتابیس آفلاین کامل با مدل دفتر کل دوبل و نگهداری وضعیت محلی.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32172" y="1266565"/>
            <a:ext cx="3471863" cy="589359"/>
          </a:xfrm>
          <a:prstGeom prst="rect">
            <a:avLst/>
          </a:prstGeom>
          <a:solidFill>
            <a:srgbClr val="F9E8E3"/>
          </a:solidFill>
          <a:ln w="9144">
            <a:solidFill>
              <a:srgbClr val="D1CCC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607469" y="1352290"/>
            <a:ext cx="1010841" cy="189309"/>
          </a:xfrm>
          <a:prstGeom prst="rect">
            <a:avLst/>
          </a:prstGeom>
          <a:solidFill>
            <a:srgbClr val="D9775B"/>
          </a:solidFill>
          <a:ln/>
        </p:spPr>
      </p:sp>
      <p:sp>
        <p:nvSpPr>
          <p:cNvPr id="18" name="Text 15"/>
          <p:cNvSpPr/>
          <p:nvPr/>
        </p:nvSpPr>
        <p:spPr>
          <a:xfrm>
            <a:off x="2607469" y="1352290"/>
            <a:ext cx="1010841" cy="189309"/>
          </a:xfrm>
          <a:prstGeom prst="rect">
            <a:avLst/>
          </a:prstGeom>
          <a:noFill/>
          <a:ln/>
        </p:spPr>
        <p:txBody>
          <a:bodyPr wrap="none" lIns="85090" tIns="25527" rIns="85090" bIns="25527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رمزنگاری شده (SQLite)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1085850" y="1584461"/>
            <a:ext cx="2532459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رمزنگاری سطح دیتابیس دستگاه و مدیریت حجیم داده‌ها.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7265194" y="1941649"/>
            <a:ext cx="1557338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7211F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همگام‌سازی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3704034" y="1852352"/>
            <a:ext cx="3471863" cy="589359"/>
          </a:xfrm>
          <a:prstGeom prst="rect">
            <a:avLst/>
          </a:prstGeom>
          <a:solidFill>
            <a:srgbClr val="FBF3DF"/>
          </a:solidFill>
          <a:ln w="9144">
            <a:solidFill>
              <a:srgbClr val="D1CCC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54341" y="1938077"/>
            <a:ext cx="932259" cy="189309"/>
          </a:xfrm>
          <a:prstGeom prst="rect">
            <a:avLst/>
          </a:prstGeom>
          <a:solidFill>
            <a:srgbClr val="D4A72C"/>
          </a:solidFill>
          <a:ln/>
        </p:spPr>
      </p:sp>
      <p:sp>
        <p:nvSpPr>
          <p:cNvPr id="23" name="Text 20"/>
          <p:cNvSpPr/>
          <p:nvPr/>
        </p:nvSpPr>
        <p:spPr>
          <a:xfrm>
            <a:off x="6154341" y="1938077"/>
            <a:ext cx="932259" cy="189309"/>
          </a:xfrm>
          <a:prstGeom prst="rect">
            <a:avLst/>
          </a:prstGeom>
          <a:noFill/>
          <a:ln/>
        </p:spPr>
        <p:txBody>
          <a:bodyPr wrap="none" lIns="85090" tIns="25527" rIns="85090" bIns="25527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صف انتظار (Outbox)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4325541" y="2170249"/>
            <a:ext cx="2761059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ثبت عملیات با شناسه Idempotency و صف آماده برای ارسال.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232172" y="1852352"/>
            <a:ext cx="3471863" cy="589359"/>
          </a:xfrm>
          <a:prstGeom prst="rect">
            <a:avLst/>
          </a:prstGeom>
          <a:solidFill>
            <a:srgbClr val="F9E8E3"/>
          </a:solidFill>
          <a:ln w="9144">
            <a:solidFill>
              <a:srgbClr val="D1CCC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478881" y="1934505"/>
            <a:ext cx="1139428" cy="189309"/>
          </a:xfrm>
          <a:prstGeom prst="rect">
            <a:avLst/>
          </a:prstGeom>
          <a:solidFill>
            <a:srgbClr val="D9775B"/>
          </a:solidFill>
          <a:ln/>
        </p:spPr>
      </p:sp>
      <p:sp>
        <p:nvSpPr>
          <p:cNvPr id="27" name="Text 24"/>
          <p:cNvSpPr/>
          <p:nvPr/>
        </p:nvSpPr>
        <p:spPr>
          <a:xfrm>
            <a:off x="2478881" y="1934505"/>
            <a:ext cx="1139428" cy="189309"/>
          </a:xfrm>
          <a:prstGeom prst="rect">
            <a:avLst/>
          </a:prstGeom>
          <a:noFill/>
          <a:ln/>
        </p:spPr>
        <p:txBody>
          <a:bodyPr wrap="none" lIns="85090" tIns="25527" rIns="85090" bIns="25527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سرویس پس‌زمینه هوشمند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721519" y="2166677"/>
            <a:ext cx="2896791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همگام‌سازی خودکار با Backoff، مدیریت پهنای باند و رفع تعارض.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7265194" y="2523865"/>
            <a:ext cx="1557338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7211F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تراکنش‌ها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3704034" y="2434568"/>
            <a:ext cx="3471863" cy="589359"/>
          </a:xfrm>
          <a:prstGeom prst="rect">
            <a:avLst/>
          </a:prstGeom>
          <a:solidFill>
            <a:srgbClr val="FBF3DF"/>
          </a:solidFill>
          <a:ln w="9144">
            <a:solidFill>
              <a:srgbClr val="D1CCC1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915025" y="2520293"/>
            <a:ext cx="1171575" cy="189309"/>
          </a:xfrm>
          <a:prstGeom prst="rect">
            <a:avLst/>
          </a:prstGeom>
          <a:solidFill>
            <a:srgbClr val="D4A72C"/>
          </a:solidFill>
          <a:ln/>
        </p:spPr>
      </p:sp>
      <p:sp>
        <p:nvSpPr>
          <p:cNvPr id="32" name="Text 29"/>
          <p:cNvSpPr/>
          <p:nvPr/>
        </p:nvSpPr>
        <p:spPr>
          <a:xfrm>
            <a:off x="5915025" y="2520293"/>
            <a:ext cx="1171575" cy="189309"/>
          </a:xfrm>
          <a:prstGeom prst="rect">
            <a:avLst/>
          </a:prstGeom>
          <a:noFill/>
          <a:ln/>
        </p:spPr>
        <p:txBody>
          <a:bodyPr wrap="none" lIns="85090" tIns="25527" rIns="85090" bIns="25527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توازن دوبل (Double Entry)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4196953" y="2752465"/>
            <a:ext cx="2889647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اعتبارسنجی تراز، طرف معامله و ممیزی رویدادها در سمت کلاینت.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232172" y="2434568"/>
            <a:ext cx="3471863" cy="589359"/>
          </a:xfrm>
          <a:prstGeom prst="rect">
            <a:avLst/>
          </a:prstGeom>
          <a:solidFill>
            <a:srgbClr val="F9E8E3"/>
          </a:solidFill>
          <a:ln w="9144">
            <a:solidFill>
              <a:srgbClr val="D1CCC1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893219" y="2516721"/>
            <a:ext cx="725091" cy="189309"/>
          </a:xfrm>
          <a:prstGeom prst="rect">
            <a:avLst/>
          </a:prstGeom>
          <a:solidFill>
            <a:srgbClr val="D9775B"/>
          </a:solidFill>
          <a:ln/>
        </p:spPr>
      </p:sp>
      <p:sp>
        <p:nvSpPr>
          <p:cNvPr id="36" name="Text 33"/>
          <p:cNvSpPr/>
          <p:nvPr/>
        </p:nvSpPr>
        <p:spPr>
          <a:xfrm>
            <a:off x="2893219" y="2516721"/>
            <a:ext cx="725091" cy="189309"/>
          </a:xfrm>
          <a:prstGeom prst="rect">
            <a:avLst/>
          </a:prstGeom>
          <a:noFill/>
          <a:ln/>
        </p:spPr>
        <p:txBody>
          <a:bodyPr wrap="none" lIns="85090" tIns="25527" rIns="85090" bIns="25527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تأیید نهایی ابری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732234" y="2748893"/>
            <a:ext cx="2886075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اعتبارسنجی قوانین مالیاتی و تطبیق نرخ ارز در لحظه همگام‌سازی.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7265194" y="3106080"/>
            <a:ext cx="1557338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7211F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گزارش‌دهی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3704034" y="3016783"/>
            <a:ext cx="3471863" cy="589359"/>
          </a:xfrm>
          <a:prstGeom prst="rect">
            <a:avLst/>
          </a:prstGeom>
          <a:solidFill>
            <a:srgbClr val="FBF3DF"/>
          </a:solidFill>
          <a:ln w="9144">
            <a:solidFill>
              <a:srgbClr val="D1CCC1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993606" y="3102508"/>
            <a:ext cx="1092994" cy="189309"/>
          </a:xfrm>
          <a:prstGeom prst="rect">
            <a:avLst/>
          </a:prstGeom>
          <a:solidFill>
            <a:srgbClr val="D4A72C"/>
          </a:solidFill>
          <a:ln/>
        </p:spPr>
      </p:sp>
      <p:sp>
        <p:nvSpPr>
          <p:cNvPr id="41" name="Text 38"/>
          <p:cNvSpPr/>
          <p:nvPr/>
        </p:nvSpPr>
        <p:spPr>
          <a:xfrm>
            <a:off x="5993606" y="3102508"/>
            <a:ext cx="1092994" cy="189309"/>
          </a:xfrm>
          <a:prstGeom prst="rect">
            <a:avLst/>
          </a:prstGeom>
          <a:noFill/>
          <a:ln/>
        </p:spPr>
        <p:txBody>
          <a:bodyPr wrap="none" lIns="85090" tIns="25527" rIns="85090" bIns="25527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محاسبات لحظه‌ای کلاینت</a:t>
            </a:r>
            <a:endParaRPr lang="en-US" sz="650" dirty="0"/>
          </a:p>
        </p:txBody>
      </p:sp>
      <p:sp>
        <p:nvSpPr>
          <p:cNvPr id="42" name="Text 39"/>
          <p:cNvSpPr/>
          <p:nvPr/>
        </p:nvSpPr>
        <p:spPr>
          <a:xfrm>
            <a:off x="4511278" y="3334680"/>
            <a:ext cx="2575322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سود و زیان و ترازنامه بر اساس داده‌های موجود در دستگاه.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232172" y="3016783"/>
            <a:ext cx="3471863" cy="589359"/>
          </a:xfrm>
          <a:prstGeom prst="rect">
            <a:avLst/>
          </a:prstGeom>
          <a:solidFill>
            <a:srgbClr val="F9E8E3"/>
          </a:solidFill>
          <a:ln w="9144">
            <a:solidFill>
              <a:srgbClr val="D1CCC1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503884" y="3098936"/>
            <a:ext cx="1114425" cy="189309"/>
          </a:xfrm>
          <a:prstGeom prst="rect">
            <a:avLst/>
          </a:prstGeom>
          <a:solidFill>
            <a:srgbClr val="D9775B"/>
          </a:solidFill>
          <a:ln/>
        </p:spPr>
      </p:sp>
      <p:sp>
        <p:nvSpPr>
          <p:cNvPr id="45" name="Text 42"/>
          <p:cNvSpPr/>
          <p:nvPr/>
        </p:nvSpPr>
        <p:spPr>
          <a:xfrm>
            <a:off x="2503884" y="3098936"/>
            <a:ext cx="1114425" cy="189309"/>
          </a:xfrm>
          <a:prstGeom prst="rect">
            <a:avLst/>
          </a:prstGeom>
          <a:noFill/>
          <a:ln/>
        </p:spPr>
        <p:txBody>
          <a:bodyPr wrap="none" lIns="85090" tIns="25527" rIns="85090" bIns="25527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گزارش‌های ترکیبی/سازمانی</a:t>
            </a:r>
            <a:endParaRPr lang="en-US" sz="650" dirty="0"/>
          </a:p>
        </p:txBody>
      </p:sp>
      <p:sp>
        <p:nvSpPr>
          <p:cNvPr id="46" name="Text 43"/>
          <p:cNvSpPr/>
          <p:nvPr/>
        </p:nvSpPr>
        <p:spPr>
          <a:xfrm>
            <a:off x="1092994" y="3331108"/>
            <a:ext cx="2525316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گزارش‌های چند شعبه‌ای و تلفیقی با خروجی Excel/PDF.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228600" y="4825603"/>
            <a:ext cx="5357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2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766E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معماری فعلی: تفکیک دقیق لایه‌های محلی و ابری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342900" y="514350"/>
            <a:ext cx="84582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ساختار ماژولار مبتنی بر Local-First برای تضمین پایداری در شرایط آفلاین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6072188" y="1508894"/>
            <a:ext cx="2428875" cy="1284312"/>
          </a:xfrm>
          <a:prstGeom prst="rect">
            <a:avLst/>
          </a:prstGeom>
          <a:solidFill>
            <a:srgbClr val="E2F0EF"/>
          </a:solidFill>
          <a:ln w="18288">
            <a:solidFill>
              <a:srgbClr val="0F766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18847" y="1423169"/>
            <a:ext cx="496491" cy="157163"/>
          </a:xfrm>
          <a:prstGeom prst="rect">
            <a:avLst/>
          </a:prstGeom>
          <a:solidFill>
            <a:srgbClr val="17211F"/>
          </a:solidFill>
          <a:ln/>
        </p:spPr>
      </p:sp>
      <p:sp>
        <p:nvSpPr>
          <p:cNvPr id="7" name="Text 4"/>
          <p:cNvSpPr/>
          <p:nvPr/>
        </p:nvSpPr>
        <p:spPr>
          <a:xfrm>
            <a:off x="7918847" y="1423169"/>
            <a:ext cx="496491" cy="157163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F7F3E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Client / UI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6243638" y="1680344"/>
            <a:ext cx="2085975" cy="278606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766E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Expo / React Native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243638" y="2044675"/>
            <a:ext cx="2085975" cy="548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• </a:t>
            </a:r>
            <a:r>
              <a:rPr lang="en-US" sz="750" dirty="0">
                <a:solidFill>
                  <a:srgbClr val="0F766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LedgerProvider</a:t>
            </a:r>
            <a:r>
              <a:rPr lang="en-US" sz="8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 (Context)</a:t>
            </a:r>
            <a:r>
              <a:rPr lang="en-US" sz="8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
</a:t>
            </a:r>
            <a:r>
              <a:rPr lang="en-US" sz="8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• NativeWind (RTL UI)</a:t>
            </a:r>
            <a:r>
              <a:rPr lang="en-US" sz="8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
</a:t>
            </a:r>
            <a:r>
              <a:rPr lang="en-US" sz="8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• Offline Dashboard Metrics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357563" y="1508894"/>
            <a:ext cx="2428875" cy="1284312"/>
          </a:xfrm>
          <a:prstGeom prst="rect">
            <a:avLst/>
          </a:prstGeom>
          <a:solidFill>
            <a:srgbClr val="E2F0EF"/>
          </a:solidFill>
          <a:ln w="18288">
            <a:solidFill>
              <a:srgbClr val="D4A72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57775" y="1423169"/>
            <a:ext cx="642938" cy="157163"/>
          </a:xfrm>
          <a:prstGeom prst="rect">
            <a:avLst/>
          </a:prstGeom>
          <a:solidFill>
            <a:srgbClr val="D4A72C"/>
          </a:solidFill>
          <a:ln/>
        </p:spPr>
      </p:sp>
      <p:sp>
        <p:nvSpPr>
          <p:cNvPr id="12" name="Text 9"/>
          <p:cNvSpPr/>
          <p:nvPr/>
        </p:nvSpPr>
        <p:spPr>
          <a:xfrm>
            <a:off x="5057775" y="1423169"/>
            <a:ext cx="642938" cy="157163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F7F3E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Domain Logic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3529013" y="1680344"/>
            <a:ext cx="2085975" cy="278606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D4A72C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Accounting Core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529013" y="2044675"/>
            <a:ext cx="2085975" cy="548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• Double-Entry Validation</a:t>
            </a:r>
            <a:r>
              <a:rPr lang="en-US" sz="8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
</a:t>
            </a:r>
            <a:r>
              <a:rPr lang="en-US" sz="8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• Audit Event Generator</a:t>
            </a:r>
            <a:r>
              <a:rPr lang="en-US" sz="8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
</a:t>
            </a:r>
            <a:r>
              <a:rPr lang="en-US" sz="8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• </a:t>
            </a:r>
            <a:r>
              <a:rPr lang="en-US" sz="750" dirty="0">
                <a:solidFill>
                  <a:srgbClr val="0F766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SyncOutbox</a:t>
            </a:r>
            <a:r>
              <a:rPr lang="en-US" sz="8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 Manager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42938" y="1508894"/>
            <a:ext cx="2428875" cy="1284312"/>
          </a:xfrm>
          <a:prstGeom prst="rect">
            <a:avLst/>
          </a:prstGeom>
          <a:solidFill>
            <a:srgbClr val="E2F0EF"/>
          </a:solidFill>
          <a:ln w="18288">
            <a:solidFill>
              <a:srgbClr val="0F766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343150" y="1437456"/>
            <a:ext cx="642938" cy="157163"/>
          </a:xfrm>
          <a:prstGeom prst="rect">
            <a:avLst/>
          </a:prstGeom>
          <a:solidFill>
            <a:srgbClr val="17211F"/>
          </a:solidFill>
          <a:ln/>
        </p:spPr>
      </p:sp>
      <p:sp>
        <p:nvSpPr>
          <p:cNvPr id="17" name="Text 14"/>
          <p:cNvSpPr/>
          <p:nvPr/>
        </p:nvSpPr>
        <p:spPr>
          <a:xfrm>
            <a:off x="2343150" y="1437456"/>
            <a:ext cx="642938" cy="157163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F7F3E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Local Storage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814388" y="1694631"/>
            <a:ext cx="2085975" cy="278606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766E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Repository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14388" y="2058963"/>
            <a:ext cx="2085975" cy="548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• </a:t>
            </a:r>
            <a:r>
              <a:rPr lang="en-US" sz="750" dirty="0">
                <a:solidFill>
                  <a:srgbClr val="0F766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AsyncStorage</a:t>
            </a:r>
            <a:r>
              <a:rPr lang="en-US" sz="8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 (Key-Value)</a:t>
            </a:r>
            <a:r>
              <a:rPr lang="en-US" sz="8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
</a:t>
            </a:r>
            <a:r>
              <a:rPr lang="en-US" sz="8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• JSON Serialized State</a:t>
            </a:r>
            <a:r>
              <a:rPr lang="en-US" sz="8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
</a:t>
            </a:r>
            <a:r>
              <a:rPr lang="en-US" sz="8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• Seed State Management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357563" y="3064669"/>
            <a:ext cx="5143500" cy="1284312"/>
          </a:xfrm>
          <a:prstGeom prst="rect">
            <a:avLst/>
          </a:prstGeom>
          <a:solidFill>
            <a:srgbClr val="E2F0EF"/>
          </a:solidFill>
          <a:ln w="18288">
            <a:solidFill>
              <a:srgbClr val="D9775B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7850981" y="2978944"/>
            <a:ext cx="564356" cy="157163"/>
          </a:xfrm>
          <a:prstGeom prst="rect">
            <a:avLst/>
          </a:prstGeom>
          <a:solidFill>
            <a:srgbClr val="D9775B"/>
          </a:solidFill>
          <a:ln/>
        </p:spPr>
      </p:sp>
      <p:sp>
        <p:nvSpPr>
          <p:cNvPr id="22" name="Text 19"/>
          <p:cNvSpPr/>
          <p:nvPr/>
        </p:nvSpPr>
        <p:spPr>
          <a:xfrm>
            <a:off x="7850981" y="2978944"/>
            <a:ext cx="564356" cy="157163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F7F3E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Sync Bridge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3529013" y="3236119"/>
            <a:ext cx="4800600" cy="278606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D9775B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tRPC / API Gateway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529013" y="3600450"/>
            <a:ext cx="4800600" cy="548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• </a:t>
            </a:r>
            <a:r>
              <a:rPr lang="en-US" sz="750" dirty="0">
                <a:solidFill>
                  <a:srgbClr val="0F766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accounting.enqueue</a:t>
            </a:r>
            <a:r>
              <a:rPr lang="en-US" sz="8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 (Sync Submission)</a:t>
            </a:r>
            <a:r>
              <a:rPr lang="en-US" sz="8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
</a:t>
            </a:r>
            <a:r>
              <a:rPr lang="en-US" sz="8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• Idempotency-Key Validation</a:t>
            </a:r>
            <a:r>
              <a:rPr lang="en-US" sz="8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
</a:t>
            </a:r>
            <a:r>
              <a:rPr lang="en-US" sz="8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• Auth Context (Manus OAuth)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42938" y="3064669"/>
            <a:ext cx="2428875" cy="1284312"/>
          </a:xfrm>
          <a:prstGeom prst="rect">
            <a:avLst/>
          </a:prstGeom>
          <a:solidFill>
            <a:srgbClr val="E2F0EF"/>
          </a:solidFill>
          <a:ln w="18288">
            <a:solidFill>
              <a:srgbClr val="0F766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325291" y="2993231"/>
            <a:ext cx="660797" cy="157163"/>
          </a:xfrm>
          <a:prstGeom prst="rect">
            <a:avLst/>
          </a:prstGeom>
          <a:solidFill>
            <a:srgbClr val="17211F"/>
          </a:solidFill>
          <a:ln/>
        </p:spPr>
      </p:sp>
      <p:sp>
        <p:nvSpPr>
          <p:cNvPr id="27" name="Text 24"/>
          <p:cNvSpPr/>
          <p:nvPr/>
        </p:nvSpPr>
        <p:spPr>
          <a:xfrm>
            <a:off x="2325291" y="2993231"/>
            <a:ext cx="660797" cy="157163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F7F3E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Server / Cloud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814388" y="3250406"/>
            <a:ext cx="2085975" cy="278606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766E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Drizzle / MySQL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14388" y="3614738"/>
            <a:ext cx="2085975" cy="548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• Relational Finance Schema</a:t>
            </a:r>
            <a:r>
              <a:rPr lang="en-US" sz="8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
</a:t>
            </a:r>
            <a:r>
              <a:rPr lang="en-US" sz="8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• Multi-tenant (Organization)</a:t>
            </a:r>
            <a:r>
              <a:rPr lang="en-US" sz="8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
</a:t>
            </a:r>
            <a:r>
              <a:rPr lang="en-US" sz="8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• Sync Reconciliation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342900" y="4650581"/>
            <a:ext cx="571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766E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مسیر ثبت آفلاین: اولویت با اعتبار محلی است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342900" y="514350"/>
            <a:ext cx="84582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تراکنش‌ها پیش از هرگونه تلاش برای شبکه، به صورت اتمیک در دستگاه تثبیت می‌شوند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8372475" y="1450181"/>
            <a:ext cx="428625" cy="428625"/>
          </a:xfrm>
          <a:prstGeom prst="ellipse">
            <a:avLst/>
          </a:prstGeom>
          <a:solidFill>
            <a:srgbClr val="D4A72C"/>
          </a:solidFill>
          <a:ln/>
        </p:spPr>
      </p:sp>
      <p:sp>
        <p:nvSpPr>
          <p:cNvPr id="6" name="Text 3"/>
          <p:cNvSpPr/>
          <p:nvPr/>
        </p:nvSpPr>
        <p:spPr>
          <a:xfrm>
            <a:off x="8372475" y="1450181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۱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42900" y="1335881"/>
            <a:ext cx="7858125" cy="657225"/>
          </a:xfrm>
          <a:prstGeom prst="rect">
            <a:avLst/>
          </a:prstGeom>
          <a:solidFill>
            <a:srgbClr val="FFFFFF"/>
          </a:solidFill>
          <a:ln w="9144">
            <a:solidFill>
              <a:srgbClr val="D1CC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4350" y="1457325"/>
            <a:ext cx="75152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766E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اعتبارسنجی دامنه (Domain Validation)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14350" y="1700213"/>
            <a:ext cx="75152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تطبیق مجموع بدهکار و بستانکار در سطح مدل کلاینت؛ جلوگیری از ثبت سند نامتوازن.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8372475" y="2243138"/>
            <a:ext cx="428625" cy="428625"/>
          </a:xfrm>
          <a:prstGeom prst="ellipse">
            <a:avLst/>
          </a:prstGeom>
          <a:solidFill>
            <a:srgbClr val="D4A72C"/>
          </a:solidFill>
          <a:ln/>
        </p:spPr>
      </p:sp>
      <p:sp>
        <p:nvSpPr>
          <p:cNvPr id="11" name="Text 8"/>
          <p:cNvSpPr/>
          <p:nvPr/>
        </p:nvSpPr>
        <p:spPr>
          <a:xfrm>
            <a:off x="8372475" y="2243138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۲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42900" y="2128838"/>
            <a:ext cx="7858125" cy="657225"/>
          </a:xfrm>
          <a:prstGeom prst="rect">
            <a:avLst/>
          </a:prstGeom>
          <a:solidFill>
            <a:srgbClr val="FFFFFF"/>
          </a:solidFill>
          <a:ln w="9144">
            <a:solidFill>
              <a:srgbClr val="D1CCC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4350" y="2250281"/>
            <a:ext cx="75152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766E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تولید شناسه‌های اتمیک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14350" y="2493169"/>
            <a:ext cx="75152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تولید </a:t>
            </a:r>
            <a:r>
              <a:rPr lang="en-US" sz="750" dirty="0">
                <a:solidFill>
                  <a:srgbClr val="D9775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idempotencyKey</a:t>
            </a:r>
            <a:r>
              <a:rPr lang="en-US" sz="850" dirty="0">
                <a:solidFill>
                  <a:srgbClr val="4A55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 منحصر‌به‌فرد برای جلوگیری از ثبت تکراری در سرور.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372475" y="3036094"/>
            <a:ext cx="428625" cy="428625"/>
          </a:xfrm>
          <a:prstGeom prst="ellipse">
            <a:avLst/>
          </a:prstGeom>
          <a:solidFill>
            <a:srgbClr val="D4A72C"/>
          </a:solidFill>
          <a:ln/>
        </p:spPr>
      </p:sp>
      <p:sp>
        <p:nvSpPr>
          <p:cNvPr id="16" name="Text 13"/>
          <p:cNvSpPr/>
          <p:nvPr/>
        </p:nvSpPr>
        <p:spPr>
          <a:xfrm>
            <a:off x="8372475" y="3036094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۳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42900" y="2921794"/>
            <a:ext cx="7858125" cy="657225"/>
          </a:xfrm>
          <a:prstGeom prst="rect">
            <a:avLst/>
          </a:prstGeom>
          <a:solidFill>
            <a:srgbClr val="FFFFFF"/>
          </a:solidFill>
          <a:ln w="9144">
            <a:solidFill>
              <a:srgbClr val="D1CCC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4350" y="3043238"/>
            <a:ext cx="75152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766E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ثبت در حافظه محلی (Authoritative Local Commit)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14350" y="3286125"/>
            <a:ext cx="75152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ذخیره همزمان تراکنش، رویداد ممیزی (Audit) و آیتم خروجی (Outbox) در </a:t>
            </a:r>
            <a:r>
              <a:rPr lang="en-US" sz="750" dirty="0">
                <a:solidFill>
                  <a:srgbClr val="D9775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AsyncStorage</a:t>
            </a:r>
            <a:r>
              <a:rPr lang="en-US" sz="850" dirty="0">
                <a:solidFill>
                  <a:srgbClr val="4A55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372475" y="3829050"/>
            <a:ext cx="428625" cy="428625"/>
          </a:xfrm>
          <a:prstGeom prst="ellipse">
            <a:avLst/>
          </a:prstGeom>
          <a:solidFill>
            <a:srgbClr val="D9775B"/>
          </a:solidFill>
          <a:ln/>
        </p:spPr>
      </p:sp>
      <p:sp>
        <p:nvSpPr>
          <p:cNvPr id="21" name="Text 18"/>
          <p:cNvSpPr/>
          <p:nvPr/>
        </p:nvSpPr>
        <p:spPr>
          <a:xfrm>
            <a:off x="8372475" y="3829050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۴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42900" y="3714750"/>
            <a:ext cx="7858125" cy="657225"/>
          </a:xfrm>
          <a:prstGeom prst="rect">
            <a:avLst/>
          </a:prstGeom>
          <a:solidFill>
            <a:srgbClr val="FFFFFF"/>
          </a:solidFill>
          <a:ln w="9144">
            <a:solidFill>
              <a:srgbClr val="D9775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4350" y="3836194"/>
            <a:ext cx="75152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D9775B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فعال‌سازی ماشه همگام‌سازی (Sync Trigger)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14350" y="4079081"/>
            <a:ext cx="75152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افزودن عملیات به صف پردازش پس‌زمینه با وضعیت </a:t>
            </a:r>
            <a:r>
              <a:rPr lang="en-US" sz="750" dirty="0">
                <a:solidFill>
                  <a:srgbClr val="D9775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pending</a:t>
            </a:r>
            <a:r>
              <a:rPr lang="en-US" sz="850" dirty="0">
                <a:solidFill>
                  <a:srgbClr val="4A55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.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342900" y="4650581"/>
            <a:ext cx="571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766E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طرح پیاده‌سازی Sync Worker: پایدار و هوشمند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342900" y="514350"/>
            <a:ext cx="84582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سرویس پس‌زمینه برای مدیریت خودکار انتقال داده‌ها با رعایت محدودیت‌های شبکه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86350" y="1071563"/>
            <a:ext cx="3714750" cy="37290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5086350" y="1071563"/>
            <a:ext cx="3714750" cy="28575"/>
          </a:xfrm>
          <a:prstGeom prst="rect">
            <a:avLst/>
          </a:prstGeom>
          <a:solidFill>
            <a:srgbClr val="D4A72C"/>
          </a:solidFill>
          <a:ln/>
        </p:spPr>
      </p:sp>
      <p:sp>
        <p:nvSpPr>
          <p:cNvPr id="7" name="Shape 4"/>
          <p:cNvSpPr/>
          <p:nvPr/>
        </p:nvSpPr>
        <p:spPr>
          <a:xfrm>
            <a:off x="8793956" y="1071563"/>
            <a:ext cx="7144" cy="3729038"/>
          </a:xfrm>
          <a:prstGeom prst="rect">
            <a:avLst/>
          </a:prstGeom>
          <a:solidFill>
            <a:srgbClr val="D1CCC1"/>
          </a:solidFill>
          <a:ln/>
        </p:spPr>
      </p:sp>
      <p:sp>
        <p:nvSpPr>
          <p:cNvPr id="8" name="Shape 5"/>
          <p:cNvSpPr/>
          <p:nvPr/>
        </p:nvSpPr>
        <p:spPr>
          <a:xfrm>
            <a:off x="5086350" y="4793456"/>
            <a:ext cx="3714750" cy="7144"/>
          </a:xfrm>
          <a:prstGeom prst="rect">
            <a:avLst/>
          </a:prstGeom>
          <a:solidFill>
            <a:srgbClr val="D1CCC1"/>
          </a:solidFill>
          <a:ln/>
        </p:spPr>
      </p:sp>
      <p:sp>
        <p:nvSpPr>
          <p:cNvPr id="9" name="Shape 6"/>
          <p:cNvSpPr/>
          <p:nvPr/>
        </p:nvSpPr>
        <p:spPr>
          <a:xfrm>
            <a:off x="5086350" y="1071563"/>
            <a:ext cx="7144" cy="3729038"/>
          </a:xfrm>
          <a:prstGeom prst="rect">
            <a:avLst/>
          </a:prstGeom>
          <a:solidFill>
            <a:srgbClr val="D1CCC1"/>
          </a:solidFill>
          <a:ln/>
        </p:spPr>
      </p:sp>
      <p:sp>
        <p:nvSpPr>
          <p:cNvPr id="10" name="Text 7"/>
          <p:cNvSpPr/>
          <p:nvPr/>
        </p:nvSpPr>
        <p:spPr>
          <a:xfrm>
            <a:off x="5257800" y="1243013"/>
            <a:ext cx="337185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766E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محرک‌ها (Triggers)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257800" y="1678781"/>
            <a:ext cx="3371850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17211F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اتصال شبکه (NetInfo):</a:t>
            </a:r>
            <a:r>
              <a:rPr lang="en-US" sz="90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 شروع خودکار با تغییر وضعیت از آفلاین به </a:t>
            </a:r>
            <a:r>
              <a:rPr lang="en-US" sz="90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آنلاین.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257800" y="2214563"/>
            <a:ext cx="337185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17211F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ثبت تراکنش جدید:</a:t>
            </a:r>
            <a:r>
              <a:rPr lang="en-US" sz="90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 ماشه فوری پس از تأیید Commit محلی.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257800" y="2568178"/>
            <a:ext cx="3371850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17211F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سرویس دوره‌ای (Task):</a:t>
            </a:r>
            <a:r>
              <a:rPr lang="en-US" sz="90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 بررسی مجدد آیتم‌های شکست خورده هر ۱۵ </a:t>
            </a:r>
            <a:r>
              <a:rPr lang="en-US" sz="90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دقیقه.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257800" y="3103959"/>
            <a:ext cx="337185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17211F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فراخوانی دستی:</a:t>
            </a:r>
            <a:r>
              <a:rPr lang="en-US" sz="90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 امکان تلاش مجدد توسط کاربر در داشبورد.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42900" y="1071563"/>
            <a:ext cx="4457700" cy="37290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342900" y="1071563"/>
            <a:ext cx="4457700" cy="28575"/>
          </a:xfrm>
          <a:prstGeom prst="rect">
            <a:avLst/>
          </a:prstGeom>
          <a:solidFill>
            <a:srgbClr val="D9775B"/>
          </a:solidFill>
          <a:ln/>
        </p:spPr>
      </p:sp>
      <p:sp>
        <p:nvSpPr>
          <p:cNvPr id="17" name="Shape 14"/>
          <p:cNvSpPr/>
          <p:nvPr/>
        </p:nvSpPr>
        <p:spPr>
          <a:xfrm>
            <a:off x="4793456" y="1071563"/>
            <a:ext cx="7144" cy="3729038"/>
          </a:xfrm>
          <a:prstGeom prst="rect">
            <a:avLst/>
          </a:prstGeom>
          <a:solidFill>
            <a:srgbClr val="D1CCC1"/>
          </a:solidFill>
          <a:ln/>
        </p:spPr>
      </p:sp>
      <p:sp>
        <p:nvSpPr>
          <p:cNvPr id="18" name="Shape 15"/>
          <p:cNvSpPr/>
          <p:nvPr/>
        </p:nvSpPr>
        <p:spPr>
          <a:xfrm>
            <a:off x="342900" y="4793456"/>
            <a:ext cx="4457700" cy="7144"/>
          </a:xfrm>
          <a:prstGeom prst="rect">
            <a:avLst/>
          </a:prstGeom>
          <a:solidFill>
            <a:srgbClr val="D1CCC1"/>
          </a:solidFill>
          <a:ln/>
        </p:spPr>
      </p:sp>
      <p:sp>
        <p:nvSpPr>
          <p:cNvPr id="19" name="Shape 16"/>
          <p:cNvSpPr/>
          <p:nvPr/>
        </p:nvSpPr>
        <p:spPr>
          <a:xfrm>
            <a:off x="342900" y="1071563"/>
            <a:ext cx="7144" cy="3729038"/>
          </a:xfrm>
          <a:prstGeom prst="rect">
            <a:avLst/>
          </a:prstGeom>
          <a:solidFill>
            <a:srgbClr val="D1CCC1"/>
          </a:solidFill>
          <a:ln/>
        </p:spPr>
      </p:sp>
      <p:sp>
        <p:nvSpPr>
          <p:cNvPr id="20" name="Text 17"/>
          <p:cNvSpPr/>
          <p:nvPr/>
        </p:nvSpPr>
        <p:spPr>
          <a:xfrm>
            <a:off x="514350" y="1243013"/>
            <a:ext cx="411480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766E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استراتژی اجرا (Strategy)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14350" y="1678781"/>
            <a:ext cx="4114800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17211F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پردازش دسته‌ای (Batching):</a:t>
            </a:r>
            <a:r>
              <a:rPr lang="en-US" sz="90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 ارسال حداکثر ۲۰ تراکنش در هر درخواست برای </a:t>
            </a:r>
            <a:r>
              <a:rPr lang="en-US" sz="90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بهینه‌سازی پهنای باند.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514350" y="2214563"/>
            <a:ext cx="4114800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17211F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صبر نمایی (Exponential Backoff):</a:t>
            </a:r>
            <a:r>
              <a:rPr lang="en-US" sz="90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 افزایش فاصله زمانی بین تلاش‌های مجدد در </a:t>
            </a:r>
            <a:r>
              <a:rPr lang="en-US" sz="90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صورت خطای شبکه (۱، ۵، ۱۵، ۶۰ دقیقه).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14350" y="2750344"/>
            <a:ext cx="411480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17211F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وضعیت ماندگار:</a:t>
            </a:r>
            <a:r>
              <a:rPr lang="en-US" sz="90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 ثبت تعداد تلاش‌ها و آخرین پیام خطا در صف محلی برای عیب‌یابی.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14350" y="3046809"/>
            <a:ext cx="4114800" cy="107156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2"/>
          <p:cNvSpPr/>
          <p:nvPr/>
        </p:nvSpPr>
        <p:spPr>
          <a:xfrm>
            <a:off x="514350" y="3046809"/>
            <a:ext cx="4114800" cy="107156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Sync Logic Pattern</a:t>
            </a:r>
            <a:r>
              <a:rPr lang="en-US" sz="750" dirty="0">
                <a:solidFill>
                  <a:srgbClr val="1E293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
</a:t>
            </a:r>
            <a:r>
              <a:rPr lang="en-US" sz="750" dirty="0">
                <a:solidFill>
                  <a:srgbClr val="1E293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while (hasPendingItems &amp;&amp; !isOffline) {</a:t>
            </a:r>
            <a:r>
              <a:rPr lang="en-US" sz="750" dirty="0">
                <a:solidFill>
                  <a:srgbClr val="1E293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
</a:t>
            </a:r>
            <a:r>
              <a:rPr lang="en-US" sz="750" dirty="0">
                <a:solidFill>
                  <a:srgbClr val="1E293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const batch = outbox.take(20);</a:t>
            </a:r>
            <a:r>
              <a:rPr lang="en-US" sz="750" dirty="0">
                <a:solidFill>
                  <a:srgbClr val="1E293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
</a:t>
            </a:r>
            <a:r>
              <a:rPr lang="en-US" sz="750" dirty="0">
                <a:solidFill>
                  <a:srgbClr val="1E293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const result = await api.sync(batch);</a:t>
            </a:r>
            <a:r>
              <a:rPr lang="en-US" sz="750" dirty="0">
                <a:solidFill>
                  <a:srgbClr val="1E293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
</a:t>
            </a:r>
            <a:r>
              <a:rPr lang="en-US" sz="750" dirty="0">
                <a:solidFill>
                  <a:srgbClr val="1E293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updateLocalState(result);</a:t>
            </a:r>
            <a:r>
              <a:rPr lang="en-US" sz="750" dirty="0">
                <a:solidFill>
                  <a:srgbClr val="1E293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
</a:t>
            </a:r>
            <a:r>
              <a:rPr lang="en-US" sz="750" dirty="0">
                <a:solidFill>
                  <a:srgbClr val="1E293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}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342900" y="4650581"/>
            <a:ext cx="571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766E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رفع تعارض: حقیقت مالی هرگز خودکار ادغام نمی‌شود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342900" y="514350"/>
            <a:ext cx="84582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تمایز بین ثبت مجدد (Replay) و تعارض واقعی؛ اولویت با دقت است، نه سرعت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304444" y="1214438"/>
            <a:ext cx="4496656" cy="2786063"/>
          </a:xfrm>
          <a:prstGeom prst="rect">
            <a:avLst/>
          </a:prstGeom>
          <a:solidFill>
            <a:srgbClr val="FFFFFF"/>
          </a:solidFill>
          <a:ln w="9144">
            <a:solidFill>
              <a:srgbClr val="D1CCC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475894" y="1385888"/>
            <a:ext cx="415375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D9775B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قواعد تصمیم‌گیری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475894" y="1714500"/>
            <a:ext cx="41537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17211F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۱. شناسه Idempotency یکسان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475894" y="1914525"/>
            <a:ext cx="4153756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اگر شناسه در سرور موجود است، درخواست نادیده گرفته شده و پاسخ موفقیت‌آمیز قبلی بازگردانده می‌شود (بدون تعارض).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475894" y="2443163"/>
            <a:ext cx="41537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17211F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۲. تفاوت نسخه (Version Mismatch)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475894" y="2643188"/>
            <a:ext cx="4153756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اگر نسخه محلی از نسخه سرور عقب‌تر باشد، وضعیت به </a:t>
            </a:r>
            <a:r>
              <a:rPr lang="en-US" sz="750" b="1" dirty="0">
                <a:solidFill>
                  <a:srgbClr val="D9775B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Conflict</a:t>
            </a:r>
            <a:r>
              <a:rPr lang="en-US" sz="800" dirty="0">
                <a:solidFill>
                  <a:srgbClr val="4A55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 تغییر یافته و ثبت متوقف </a:t>
            </a:r>
            <a:r>
              <a:rPr lang="en-US" sz="800" dirty="0">
                <a:solidFill>
                  <a:srgbClr val="4A55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می‌شود.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475894" y="3171825"/>
            <a:ext cx="41537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17211F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۳. عدم حذف فیزیکی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475894" y="3371850"/>
            <a:ext cx="415375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هیچ تراکنشی حذف نمی‌شود. تعارض‌ها باید با «سند برگشتی» یا «اصلاحیه» توسط کاربر حل شوند.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42900" y="1214438"/>
            <a:ext cx="3747232" cy="2786063"/>
          </a:xfrm>
          <a:prstGeom prst="rect">
            <a:avLst/>
          </a:prstGeom>
          <a:solidFill>
            <a:srgbClr val="E2F0EF"/>
          </a:solidFill>
          <a:ln w="9144">
            <a:solidFill>
              <a:srgbClr val="0F766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5775" y="1357313"/>
            <a:ext cx="346148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766E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گردش کار انسانی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85775" y="1685925"/>
            <a:ext cx="3461482" cy="307181"/>
          </a:xfrm>
          <a:prstGeom prst="rect">
            <a:avLst/>
          </a:prstGeom>
          <a:solidFill>
            <a:srgbClr val="FFFFFF"/>
          </a:solidFill>
          <a:ln w="9144">
            <a:solidFill>
              <a:srgbClr val="0F766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5775" y="1685925"/>
            <a:ext cx="3461482" cy="30718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تشخیص تعارض در سرور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485775" y="2050256"/>
            <a:ext cx="346148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050" dirty="0">
                <a:solidFill>
                  <a:srgbClr val="0F766E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↓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85775" y="2264569"/>
            <a:ext cx="3461482" cy="307181"/>
          </a:xfrm>
          <a:prstGeom prst="rect">
            <a:avLst/>
          </a:prstGeom>
          <a:solidFill>
            <a:srgbClr val="FFFFFF"/>
          </a:solidFill>
          <a:ln w="9144">
            <a:solidFill>
              <a:srgbClr val="D9775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5775" y="2264569"/>
            <a:ext cx="3461482" cy="30718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هشدار به کاربر در اپلیکیشن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485775" y="2628900"/>
            <a:ext cx="346148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050" dirty="0">
                <a:solidFill>
                  <a:srgbClr val="0F766E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↓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5775" y="2843213"/>
            <a:ext cx="3461482" cy="307181"/>
          </a:xfrm>
          <a:prstGeom prst="rect">
            <a:avLst/>
          </a:prstGeom>
          <a:solidFill>
            <a:srgbClr val="FFFFFF"/>
          </a:solidFill>
          <a:ln w="9144">
            <a:solidFill>
              <a:srgbClr val="0F766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5775" y="2843213"/>
            <a:ext cx="3461482" cy="30718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مشاهده مقادیر سرور vs محلی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485775" y="3207544"/>
            <a:ext cx="346148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050" dirty="0">
                <a:solidFill>
                  <a:srgbClr val="0F766E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↓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85775" y="3421856"/>
            <a:ext cx="3461482" cy="307181"/>
          </a:xfrm>
          <a:prstGeom prst="rect">
            <a:avLst/>
          </a:prstGeom>
          <a:solidFill>
            <a:srgbClr val="0F766E"/>
          </a:solidFill>
          <a:ln w="9144">
            <a:solidFill>
              <a:srgbClr val="0F766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5775" y="3421856"/>
            <a:ext cx="3461482" cy="30718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تأیید یکی یا ثبت سند اصلاحی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342900" y="4650581"/>
            <a:ext cx="571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766E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قرارداد داده‌ای: تضمین یکپارچگی در هر دو سمت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342900" y="514350"/>
            <a:ext cx="84582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ساختار درخواستی و فیلدهای کلیدی برای پشتیبانی از همگام‌سازی چند مرحله‌ای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679156" y="1071563"/>
            <a:ext cx="4121944" cy="3729038"/>
          </a:xfrm>
          <a:prstGeom prst="rect">
            <a:avLst/>
          </a:prstGeom>
          <a:solidFill>
            <a:srgbClr val="FFFFFF"/>
          </a:solidFill>
          <a:ln w="9144">
            <a:solidFill>
              <a:srgbClr val="D1CCC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822031" y="1214438"/>
            <a:ext cx="3836194" cy="307181"/>
          </a:xfrm>
          <a:prstGeom prst="rect">
            <a:avLst/>
          </a:prstGeom>
          <a:solidFill>
            <a:srgbClr val="E2F0EF"/>
          </a:solidFill>
          <a:ln/>
        </p:spPr>
      </p:sp>
      <p:sp>
        <p:nvSpPr>
          <p:cNvPr id="7" name="Text 4"/>
          <p:cNvSpPr/>
          <p:nvPr/>
        </p:nvSpPr>
        <p:spPr>
          <a:xfrm>
            <a:off x="4822031" y="1214438"/>
            <a:ext cx="3836194" cy="30718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7211F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تراکنش حسابداری (Payload)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536781" y="1664494"/>
            <a:ext cx="12144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id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822031" y="1664494"/>
            <a:ext cx="54649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uuid (v4)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808119" y="1935956"/>
            <a:ext cx="8501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organizationId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822031" y="1935956"/>
            <a:ext cx="3643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string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7808119" y="2207419"/>
            <a:ext cx="8501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idempotencyKey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4822031" y="2207419"/>
            <a:ext cx="91082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string (unique)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8233172" y="2478881"/>
            <a:ext cx="42505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version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4822031" y="2478881"/>
            <a:ext cx="103227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int (incremental)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8354616" y="2750344"/>
            <a:ext cx="30360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lines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4822031" y="2750344"/>
            <a:ext cx="109299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Array&lt;DebitCredit&gt;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8051006" y="3021806"/>
            <a:ext cx="6072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auditTrail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822031" y="3021806"/>
            <a:ext cx="103227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JSON (actor, dev)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342900" y="1071563"/>
            <a:ext cx="4121944" cy="3729038"/>
          </a:xfrm>
          <a:prstGeom prst="rect">
            <a:avLst/>
          </a:prstGeom>
          <a:solidFill>
            <a:srgbClr val="FFFFFF"/>
          </a:solidFill>
          <a:ln w="9144">
            <a:solidFill>
              <a:srgbClr val="D1CCC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5775" y="1214438"/>
            <a:ext cx="3836194" cy="307181"/>
          </a:xfrm>
          <a:prstGeom prst="rect">
            <a:avLst/>
          </a:prstGeom>
          <a:solidFill>
            <a:srgbClr val="E2F0EF"/>
          </a:solidFill>
          <a:ln/>
        </p:spPr>
      </p:sp>
      <p:sp>
        <p:nvSpPr>
          <p:cNvPr id="22" name="Text 19"/>
          <p:cNvSpPr/>
          <p:nvPr/>
        </p:nvSpPr>
        <p:spPr>
          <a:xfrm>
            <a:off x="485775" y="1214438"/>
            <a:ext cx="3836194" cy="30718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7211F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API Endpoints (tRPC)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85775" y="1607344"/>
            <a:ext cx="38361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D9775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POST accounting.syncBatch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85775" y="1850231"/>
            <a:ext cx="3836194" cy="271463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ارسال تراکنش‌های آفلاین به صورت دسته‌ای.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485775" y="2264569"/>
            <a:ext cx="38361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D9775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GET accounting.fetchChanges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85775" y="2507456"/>
            <a:ext cx="3836194" cy="271463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دریافت تغییرات سایر شعبه‌ها از آخرین همگام‌سازی.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485775" y="2921794"/>
            <a:ext cx="38361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D9775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POST accounting.resolveConflict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85775" y="3164681"/>
            <a:ext cx="3836194" cy="271463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ثبت تصمیم کاربر برای تراکنش‌های دارای تعارض.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342900" y="4650581"/>
            <a:ext cx="571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766E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مسیر پیش‌رو: از تایید MVP تا پایداری تولید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342900" y="514350"/>
            <a:ext cx="84582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وضعیت فعلی لایه‌ها و ۳ گام اجرایی برای رسیدن به نسخه پایدار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342900" y="1357313"/>
            <a:ext cx="7958138" cy="585788"/>
          </a:xfrm>
          <a:prstGeom prst="rect">
            <a:avLst/>
          </a:prstGeom>
          <a:solidFill>
            <a:srgbClr val="FFFFFF"/>
          </a:solidFill>
          <a:ln w="9144">
            <a:solidFill>
              <a:srgbClr val="D1CCC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85850" y="1471613"/>
            <a:ext cx="707231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7211F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هسته حسابداری و رابط کاربری RTL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85850" y="1664494"/>
            <a:ext cx="70723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توازن دوبل، داشبورد مالی و ثبت آفلاین کامل است.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485775" y="1553766"/>
            <a:ext cx="600075" cy="178594"/>
          </a:xfrm>
          <a:prstGeom prst="rect">
            <a:avLst/>
          </a:prstGeom>
          <a:solidFill>
            <a:srgbClr val="E2F0EF"/>
          </a:solidFill>
          <a:ln/>
        </p:spPr>
      </p:sp>
      <p:sp>
        <p:nvSpPr>
          <p:cNvPr id="9" name="Text 6"/>
          <p:cNvSpPr/>
          <p:nvPr/>
        </p:nvSpPr>
        <p:spPr>
          <a:xfrm>
            <a:off x="485775" y="1553766"/>
            <a:ext cx="600075" cy="178594"/>
          </a:xfrm>
          <a:prstGeom prst="rect">
            <a:avLst/>
          </a:prstGeom>
          <a:noFill/>
          <a:ln/>
        </p:spPr>
        <p:txBody>
          <a:bodyPr wrap="none" lIns="85090" tIns="17018" rIns="85090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F766E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تکمیل شده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342900" y="2143125"/>
            <a:ext cx="7958138" cy="585788"/>
          </a:xfrm>
          <a:prstGeom prst="rect">
            <a:avLst/>
          </a:prstGeom>
          <a:solidFill>
            <a:srgbClr val="FFFFFF"/>
          </a:solidFill>
          <a:ln w="9144">
            <a:solidFill>
              <a:srgbClr val="D1CCC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3697" y="2257425"/>
            <a:ext cx="715446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7211F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پیاده‌سازی Sync Worker و رفع تعارض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03697" y="2450306"/>
            <a:ext cx="715446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اتصال صف محلی به API و مدیریت بازگشت خطا.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485775" y="2339578"/>
            <a:ext cx="517922" cy="178594"/>
          </a:xfrm>
          <a:prstGeom prst="rect">
            <a:avLst/>
          </a:prstGeom>
          <a:solidFill>
            <a:srgbClr val="FBF3DF"/>
          </a:solidFill>
          <a:ln/>
        </p:spPr>
      </p:sp>
      <p:sp>
        <p:nvSpPr>
          <p:cNvPr id="14" name="Text 11"/>
          <p:cNvSpPr/>
          <p:nvPr/>
        </p:nvSpPr>
        <p:spPr>
          <a:xfrm>
            <a:off x="485775" y="2339578"/>
            <a:ext cx="517922" cy="178594"/>
          </a:xfrm>
          <a:prstGeom prst="rect">
            <a:avLst/>
          </a:prstGeom>
          <a:noFill/>
          <a:ln/>
        </p:spPr>
        <p:txBody>
          <a:bodyPr wrap="none" lIns="85090" tIns="17018" rIns="85090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D4A72C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گام بعدی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342900" y="2928938"/>
            <a:ext cx="7958138" cy="585788"/>
          </a:xfrm>
          <a:prstGeom prst="rect">
            <a:avLst/>
          </a:prstGeom>
          <a:solidFill>
            <a:srgbClr val="FFFFFF"/>
          </a:solidFill>
          <a:ln w="9144">
            <a:solidFill>
              <a:srgbClr val="D1CCC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0834" y="3043238"/>
            <a:ext cx="719732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7211F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امنیت داده و بیلد نهایی اندروید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960834" y="3236119"/>
            <a:ext cx="719732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رمزنگاری محلی، MFA و انتشار APK/AAB رسمی.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485775" y="3125391"/>
            <a:ext cx="475059" cy="178594"/>
          </a:xfrm>
          <a:prstGeom prst="rect">
            <a:avLst/>
          </a:prstGeom>
          <a:solidFill>
            <a:srgbClr val="F9E8E3"/>
          </a:solidFill>
          <a:ln/>
        </p:spPr>
      </p:sp>
      <p:sp>
        <p:nvSpPr>
          <p:cNvPr id="19" name="Text 16"/>
          <p:cNvSpPr/>
          <p:nvPr/>
        </p:nvSpPr>
        <p:spPr>
          <a:xfrm>
            <a:off x="485775" y="3125391"/>
            <a:ext cx="475059" cy="178594"/>
          </a:xfrm>
          <a:prstGeom prst="rect">
            <a:avLst/>
          </a:prstGeom>
          <a:noFill/>
          <a:ln/>
        </p:spPr>
        <p:txBody>
          <a:bodyPr wrap="none" lIns="85090" tIns="17018" rIns="85090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D9775B"/>
                </a:solidFill>
                <a:latin typeface="Vazirmatn Bold" pitchFamily="34" charset="0"/>
                <a:ea typeface="Vazirmatn Bold" pitchFamily="34" charset="-122"/>
                <a:cs typeface="Vazirmatn Bold" pitchFamily="34" charset="-120"/>
              </a:rPr>
              <a:t>در انتظار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342900" y="4650581"/>
            <a:ext cx="571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7211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8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2026-10-27T22:36:01Z</dcterms:created>
  <dcterms:modified xsi:type="dcterms:W3CDTF">2026-10-27T22:36:01Z</dcterms:modified>
</cp:coreProperties>
</file>